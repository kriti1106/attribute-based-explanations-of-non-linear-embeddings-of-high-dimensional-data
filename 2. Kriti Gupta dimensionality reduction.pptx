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Calibri" panose="020F0502020204030204" pitchFamily="34" charset="0"/>
      <p:regular r:id="rId12"/>
      <p:bold r:id="rId13"/>
      <p:italic r:id="rId14"/>
      <p:boldItalic r:id="rId15"/>
    </p:embeddedFont>
    <p:embeddedFont>
      <p:font typeface="Canva Sans Bold" panose="020B0604020202020204" charset="0"/>
      <p:regular r:id="rId16"/>
    </p:embeddedFont>
    <p:embeddedFont>
      <p:font typeface="Josefin Sans Regular" panose="020B0604020202020204" charset="0"/>
      <p:regular r:id="rId17"/>
    </p:embeddedFont>
    <p:embeddedFont>
      <p:font typeface="Josefin Sans Regular Bold" panose="020B0604020202020204" charset="0"/>
      <p:regular r:id="rId18"/>
    </p:embeddedFont>
    <p:embeddedFont>
      <p:font typeface="Prata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5" d="100"/>
          <a:sy n="55" d="100"/>
        </p:scale>
        <p:origin x="658" y="3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29292" b="2929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2946356" y="1066800"/>
            <a:ext cx="12395288" cy="38755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37"/>
              </a:lnSpc>
            </a:pPr>
            <a:r>
              <a:rPr lang="en-US" sz="8815">
                <a:solidFill>
                  <a:srgbClr val="FFFFFF"/>
                </a:solidFill>
                <a:latin typeface="Prata"/>
              </a:rPr>
              <a:t>DIMENSIONALITY REDUCTION AND</a:t>
            </a:r>
          </a:p>
          <a:p>
            <a:pPr algn="ctr">
              <a:lnSpc>
                <a:spcPts val="10137"/>
              </a:lnSpc>
            </a:pPr>
            <a:r>
              <a:rPr lang="en-US" sz="8815">
                <a:solidFill>
                  <a:srgbClr val="FFFFFF"/>
                </a:solidFill>
                <a:latin typeface="Prata"/>
              </a:rPr>
              <a:t>VISUALIZATIONS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946356" y="7934325"/>
            <a:ext cx="12395288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</a:pPr>
            <a:r>
              <a:rPr lang="en-US" sz="3000">
                <a:solidFill>
                  <a:srgbClr val="FFFFFF"/>
                </a:solidFill>
                <a:latin typeface="Prata"/>
              </a:rPr>
              <a:t>PRESENTED BY: KRITI GUPTA (12140940)</a:t>
            </a:r>
          </a:p>
          <a:p>
            <a:pPr algn="ctr">
              <a:lnSpc>
                <a:spcPts val="3450"/>
              </a:lnSpc>
            </a:pPr>
            <a:r>
              <a:rPr lang="en-US" sz="3000">
                <a:solidFill>
                  <a:srgbClr val="FFFFFF"/>
                </a:solidFill>
                <a:latin typeface="Prata"/>
              </a:rPr>
              <a:t>COURSE: DATA ANALYTICS AND VISUALISATION</a:t>
            </a:r>
          </a:p>
          <a:p>
            <a:pPr algn="ctr">
              <a:lnSpc>
                <a:spcPts val="3450"/>
              </a:lnSpc>
            </a:pPr>
            <a:r>
              <a:rPr lang="en-US" sz="3000">
                <a:solidFill>
                  <a:srgbClr val="FFFFFF"/>
                </a:solidFill>
                <a:latin typeface="Prata"/>
              </a:rPr>
              <a:t>INSTRUCTOR: DR. GAGAN RAJ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059431"/>
            <a:ext cx="16230600" cy="71988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8" lvl="1" indent="-367029">
              <a:lnSpc>
                <a:spcPts val="574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Josefin Sans Regular"/>
              </a:rPr>
              <a:t>High dimensional data is omnipresent.</a:t>
            </a:r>
          </a:p>
          <a:p>
            <a:pPr marL="734058" lvl="1" indent="-367029">
              <a:lnSpc>
                <a:spcPts val="574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Josefin Sans Regular"/>
              </a:rPr>
              <a:t>Difficult to visualize and analyze.</a:t>
            </a:r>
          </a:p>
          <a:p>
            <a:pPr marL="734058" lvl="1" indent="-367029">
              <a:lnSpc>
                <a:spcPts val="574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Josefin Sans Regular"/>
              </a:rPr>
              <a:t>Dimensionality reduction reduces number of </a:t>
            </a:r>
          </a:p>
          <a:p>
            <a:pPr>
              <a:lnSpc>
                <a:spcPts val="5745"/>
              </a:lnSpc>
            </a:pPr>
            <a:r>
              <a:rPr lang="en-US" sz="3399">
                <a:solidFill>
                  <a:srgbClr val="FFFFFF"/>
                </a:solidFill>
                <a:latin typeface="Josefin Sans Regular"/>
              </a:rPr>
              <a:t>      variables in a dataset.</a:t>
            </a:r>
          </a:p>
          <a:p>
            <a:pPr marL="734058" lvl="1" indent="-367029">
              <a:lnSpc>
                <a:spcPts val="574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Josefin Sans Regular"/>
              </a:rPr>
              <a:t>Eliminates irrelevant or redundant features.</a:t>
            </a:r>
          </a:p>
          <a:p>
            <a:pPr marL="734058" lvl="1" indent="-367029">
              <a:lnSpc>
                <a:spcPts val="574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Josefin Sans Regular"/>
              </a:rPr>
              <a:t>Extracts the most important features.</a:t>
            </a:r>
          </a:p>
          <a:p>
            <a:pPr marL="734058" lvl="1" indent="-367029">
              <a:lnSpc>
                <a:spcPts val="574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Josefin Sans Regular"/>
              </a:rPr>
              <a:t>Reduces computational complexity.</a:t>
            </a:r>
          </a:p>
          <a:p>
            <a:pPr marL="734058" lvl="1" indent="-367029">
              <a:lnSpc>
                <a:spcPts val="574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Josefin Sans Regular"/>
              </a:rPr>
              <a:t>Can lead to loss of information.</a:t>
            </a:r>
          </a:p>
          <a:p>
            <a:pPr marL="734058" lvl="1" indent="-367029">
              <a:lnSpc>
                <a:spcPts val="5745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Josefin Sans Regular"/>
              </a:rPr>
              <a:t>Can cause bias in the model.</a:t>
            </a:r>
          </a:p>
          <a:p>
            <a:pPr>
              <a:lnSpc>
                <a:spcPts val="5745"/>
              </a:lnSpc>
            </a:pPr>
            <a:endParaRPr lang="en-US" sz="3399">
              <a:solidFill>
                <a:srgbClr val="FFFFFF"/>
              </a:solidFill>
              <a:latin typeface="Josefin Sans Regular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528883" y="2284362"/>
            <a:ext cx="5730417" cy="571827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28700" y="1047750"/>
            <a:ext cx="14522618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rata"/>
              </a:rPr>
              <a:t>DIMENSIONALITY REDUCTION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4950" b="4950"/>
          <a:stretch>
            <a:fillRect/>
          </a:stretch>
        </p:blipFill>
        <p:spPr>
          <a:xfrm>
            <a:off x="3149935" y="4803074"/>
            <a:ext cx="11988130" cy="468484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1047750"/>
            <a:ext cx="10529888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rata"/>
              </a:rPr>
              <a:t>LINEAR DIMENSIONALITY REDUCTION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46793"/>
            <a:ext cx="16230600" cy="27562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51"/>
              </a:lnSpc>
            </a:pPr>
            <a:r>
              <a:rPr lang="en-US" sz="3399">
                <a:solidFill>
                  <a:srgbClr val="FFFFFF"/>
                </a:solidFill>
                <a:latin typeface="Prata"/>
              </a:rPr>
              <a:t>PRINCIPAL COMPONENT ANALYSIS (PCA): </a:t>
            </a:r>
          </a:p>
          <a:p>
            <a:pPr marL="734059" lvl="1" indent="-367030">
              <a:lnSpc>
                <a:spcPts val="4351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Josefin Sans Regular"/>
              </a:rPr>
              <a:t>Identifies the directions in the data that capture the most variation.</a:t>
            </a:r>
          </a:p>
          <a:p>
            <a:pPr marL="734059" lvl="1" indent="-367030">
              <a:lnSpc>
                <a:spcPts val="4351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Josefin Sans Regular"/>
              </a:rPr>
              <a:t>Projects the data onto these directions</a:t>
            </a:r>
          </a:p>
          <a:p>
            <a:pPr marL="734059" lvl="1" indent="-367030">
              <a:lnSpc>
                <a:spcPts val="4351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Josefin Sans Regular"/>
              </a:rPr>
              <a:t>Resulting projection retains most of the important </a:t>
            </a:r>
          </a:p>
          <a:p>
            <a:pPr>
              <a:lnSpc>
                <a:spcPts val="4351"/>
              </a:lnSpc>
            </a:pPr>
            <a:r>
              <a:rPr lang="en-US" sz="3399">
                <a:solidFill>
                  <a:srgbClr val="FFFFFF"/>
                </a:solidFill>
                <a:latin typeface="Josefin Sans Regular"/>
              </a:rPr>
              <a:t>     information in the original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37410"/>
            <a:ext cx="16230600" cy="732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19"/>
              </a:lnSpc>
            </a:pPr>
            <a:r>
              <a:rPr lang="en-US" sz="3399" dirty="0">
                <a:solidFill>
                  <a:srgbClr val="FFFFFF"/>
                </a:solidFill>
                <a:latin typeface="Prata"/>
              </a:rPr>
              <a:t>UMAP (UNIFORM MANIFOLD APPROXIMATION AND PROJECTION):</a:t>
            </a:r>
          </a:p>
          <a:p>
            <a:pPr marL="734059" lvl="1" indent="-367030">
              <a:lnSpc>
                <a:spcPts val="441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Creates a weighted graph of the data points.</a:t>
            </a:r>
          </a:p>
          <a:p>
            <a:pPr marL="734059" lvl="1" indent="-367030">
              <a:lnSpc>
                <a:spcPts val="441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Each point is connected to its k nearest neighbors.</a:t>
            </a:r>
          </a:p>
          <a:p>
            <a:pPr marL="734059" lvl="1" indent="-367030">
              <a:lnSpc>
                <a:spcPts val="441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The graph is then used to construct a high-dimensional </a:t>
            </a:r>
          </a:p>
          <a:p>
            <a:pPr>
              <a:lnSpc>
                <a:spcPts val="4419"/>
              </a:lnSpc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      simplicial complex that approximates the underlying </a:t>
            </a:r>
          </a:p>
          <a:p>
            <a:pPr>
              <a:lnSpc>
                <a:spcPts val="4419"/>
              </a:lnSpc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      manifold of the data.</a:t>
            </a:r>
          </a:p>
          <a:p>
            <a:pPr>
              <a:lnSpc>
                <a:spcPts val="4419"/>
              </a:lnSpc>
            </a:pPr>
            <a:endParaRPr lang="en-US" sz="3399" dirty="0">
              <a:solidFill>
                <a:srgbClr val="FFFFFF"/>
              </a:solidFill>
              <a:latin typeface="Josefin Sans Regular"/>
            </a:endParaRPr>
          </a:p>
          <a:p>
            <a:pPr>
              <a:lnSpc>
                <a:spcPts val="4419"/>
              </a:lnSpc>
            </a:pPr>
            <a:r>
              <a:rPr lang="en-US" sz="3399" dirty="0">
                <a:solidFill>
                  <a:srgbClr val="FFFFFF"/>
                </a:solidFill>
                <a:latin typeface="Prata"/>
              </a:rPr>
              <a:t>t-SNE (t-Distributed Stochastic Neighbor Embedding):</a:t>
            </a:r>
          </a:p>
          <a:p>
            <a:pPr marL="734059" lvl="1" indent="-367030">
              <a:lnSpc>
                <a:spcPts val="441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Creates a probability distribution over pairs of </a:t>
            </a:r>
          </a:p>
          <a:p>
            <a:pPr>
              <a:lnSpc>
                <a:spcPts val="4419"/>
              </a:lnSpc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      points in the high-dimensional space.</a:t>
            </a:r>
          </a:p>
          <a:p>
            <a:pPr marL="734059" lvl="1" indent="-367030">
              <a:lnSpc>
                <a:spcPts val="441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Creates a similar probability distribution in the </a:t>
            </a:r>
          </a:p>
          <a:p>
            <a:pPr>
              <a:lnSpc>
                <a:spcPts val="4419"/>
              </a:lnSpc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      low-dimensional space.</a:t>
            </a:r>
          </a:p>
          <a:p>
            <a:pPr marL="734059" lvl="1" indent="-367030">
              <a:lnSpc>
                <a:spcPts val="441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Minimizes the divergence between the two distributions.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047750"/>
            <a:ext cx="11971973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rata"/>
              </a:rPr>
              <a:t>NON-LINEAR DIMENSIONALITY REDUCTION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910836" y="2197235"/>
            <a:ext cx="3348464" cy="334132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3910836" y="5986324"/>
            <a:ext cx="3348464" cy="327197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28700" y="1047750"/>
            <a:ext cx="16230600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rata"/>
              </a:rPr>
              <a:t>TRADITIONAL TECHNIQUES OF VISUALISATION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968589"/>
            <a:ext cx="16230600" cy="3569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40"/>
              </a:lnSpc>
            </a:pPr>
            <a:r>
              <a:rPr lang="en-US" sz="3000">
                <a:solidFill>
                  <a:srgbClr val="FFFFFF"/>
                </a:solidFill>
                <a:latin typeface="Prata"/>
              </a:rPr>
              <a:t>COLOR-CODING:</a:t>
            </a:r>
          </a:p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Josefin Sans Regular"/>
              </a:rPr>
              <a:t>Assigns each projected data point a color using one of the </a:t>
            </a:r>
          </a:p>
          <a:p>
            <a:pPr>
              <a:lnSpc>
                <a:spcPts val="4740"/>
              </a:lnSpc>
            </a:pPr>
            <a:r>
              <a:rPr lang="en-US" sz="3000">
                <a:solidFill>
                  <a:srgbClr val="FFFFFF"/>
                </a:solidFill>
                <a:latin typeface="Josefin Sans Regular"/>
              </a:rPr>
              <a:t>     original attributes.</a:t>
            </a:r>
          </a:p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Josefin Sans Regular"/>
              </a:rPr>
              <a:t>Easy to implement and to comprehend.</a:t>
            </a:r>
          </a:p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Josefin Sans Regular"/>
              </a:rPr>
              <a:t>Preserves the pairwise similarities between the data points.</a:t>
            </a:r>
          </a:p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Josefin Sans Regular"/>
              </a:rPr>
              <a:t>Suffers from occlusion and visual clutter.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688330"/>
            <a:ext cx="16230600" cy="35811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40"/>
              </a:lnSpc>
            </a:pPr>
            <a:r>
              <a:rPr lang="en-US" sz="3000" dirty="0">
                <a:solidFill>
                  <a:srgbClr val="FFFFFF"/>
                </a:solidFill>
                <a:latin typeface="Prata"/>
              </a:rPr>
              <a:t>CONTOURS:</a:t>
            </a:r>
          </a:p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Josefin Sans Regular"/>
              </a:rPr>
              <a:t>Data is divided into a set of discrete levels or contours.</a:t>
            </a:r>
          </a:p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Josefin Sans Regular"/>
              </a:rPr>
              <a:t>Each contour line represents a particular value of the plotted variable.</a:t>
            </a:r>
          </a:p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Josefin Sans Regular"/>
              </a:rPr>
              <a:t>Darker colors represent higher values.</a:t>
            </a:r>
          </a:p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dirty="0">
                <a:solidFill>
                  <a:srgbClr val="FFFFFF"/>
                </a:solidFill>
                <a:latin typeface="Josefin Sans Regular"/>
              </a:rPr>
              <a:t>Data points with different attribute values are projected onto the </a:t>
            </a:r>
          </a:p>
          <a:p>
            <a:pPr>
              <a:lnSpc>
                <a:spcPts val="4740"/>
              </a:lnSpc>
            </a:pPr>
            <a:r>
              <a:rPr lang="en-US" sz="3000" dirty="0">
                <a:solidFill>
                  <a:srgbClr val="FFFFFF"/>
                </a:solidFill>
                <a:latin typeface="Josefin Sans Regular"/>
              </a:rPr>
              <a:t>      same position in 2D space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8700" y="6002238"/>
            <a:ext cx="16230600" cy="3256062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28700" y="1047750"/>
            <a:ext cx="16230600" cy="587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Prata"/>
              </a:rPr>
              <a:t>RANGESETS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903475"/>
            <a:ext cx="16230600" cy="346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Josefin Sans Regular"/>
              </a:rPr>
              <a:t>Combines strengths of traditional visualization techniques.</a:t>
            </a:r>
          </a:p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Josefin Sans Regular"/>
              </a:rPr>
              <a:t>Use geometric contours to group similar value data points.</a:t>
            </a:r>
          </a:p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Josefin Sans Regular"/>
              </a:rPr>
              <a:t>For categorical attributes a contour is drawn per category.</a:t>
            </a:r>
          </a:p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Josefin Sans Regular"/>
              </a:rPr>
              <a:t>For continuous attributes a contour is drawn per bin.</a:t>
            </a:r>
          </a:p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Josefin Sans Regular"/>
              </a:rPr>
              <a:t>The algorithm consists of 5 steps-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752475"/>
            <a:ext cx="16230600" cy="7978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969"/>
              </a:lnSpc>
            </a:pPr>
            <a:r>
              <a:rPr lang="en-US" sz="3399" dirty="0">
                <a:solidFill>
                  <a:srgbClr val="FFFFFF"/>
                </a:solidFill>
                <a:latin typeface="Prata"/>
              </a:rPr>
              <a:t>NON-CONVEX HULLS: </a:t>
            </a:r>
          </a:p>
          <a:p>
            <a:pPr marL="734059" lvl="1" indent="-367030">
              <a:lnSpc>
                <a:spcPts val="696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Given a set S of n points.</a:t>
            </a:r>
          </a:p>
          <a:p>
            <a:pPr marL="734059" lvl="1" indent="-367030">
              <a:lnSpc>
                <a:spcPts val="696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Find a hull that tightly encloses points of S.</a:t>
            </a:r>
          </a:p>
          <a:p>
            <a:pPr marL="734059" lvl="1" indent="-367030">
              <a:lnSpc>
                <a:spcPts val="696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α-hulls can be computed efficiently and allow for filtering of outliers.</a:t>
            </a:r>
          </a:p>
          <a:p>
            <a:pPr marL="734059" lvl="1" indent="-367030">
              <a:lnSpc>
                <a:spcPts val="696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It is the intersection of all closed complements of discs with radius −1/α that contain all the points of S.</a:t>
            </a:r>
          </a:p>
          <a:p>
            <a:pPr marL="734059" lvl="1" indent="-367030">
              <a:lnSpc>
                <a:spcPts val="696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They can be computed efficiently by Delaunay Triangulation.</a:t>
            </a:r>
          </a:p>
          <a:p>
            <a:pPr marL="734059" lvl="1" indent="-367030">
              <a:lnSpc>
                <a:spcPts val="696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Excludes triangles containing an edge whose length exceeds given threshold ε.</a:t>
            </a:r>
          </a:p>
          <a:p>
            <a:pPr marL="734059" lvl="1" indent="-367030">
              <a:lnSpc>
                <a:spcPts val="696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ε controls the “tightness” of the computed contour.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787889" y="5714619"/>
            <a:ext cx="3473348" cy="3543681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247131" y="5714619"/>
            <a:ext cx="3310477" cy="354368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28700" y="885825"/>
            <a:ext cx="16230600" cy="4891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507"/>
              </a:lnSpc>
            </a:pPr>
            <a:r>
              <a:rPr lang="en-US" sz="3399" dirty="0">
                <a:solidFill>
                  <a:srgbClr val="FFFFFF"/>
                </a:solidFill>
                <a:latin typeface="Prata"/>
              </a:rPr>
              <a:t> TOPOLOGICAL FILTRATION TO CONTROL  ε:</a:t>
            </a:r>
          </a:p>
          <a:p>
            <a:pPr marL="734059" lvl="1" indent="-367030">
              <a:lnSpc>
                <a:spcPts val="5507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Increasing the threshold ε can only add triangles to the non-convex hull.</a:t>
            </a:r>
          </a:p>
          <a:p>
            <a:pPr marL="734059" lvl="1" indent="-367030">
              <a:lnSpc>
                <a:spcPts val="5507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For ε = 0 no contour is created and all data points are outliers.</a:t>
            </a:r>
          </a:p>
          <a:p>
            <a:pPr marL="734059" lvl="1" indent="-367030">
              <a:lnSpc>
                <a:spcPts val="5507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Increasing ε-values many small contours form which eventually merge to larger more stable contours</a:t>
            </a:r>
          </a:p>
          <a:p>
            <a:pPr marL="734059" lvl="1" indent="-367030">
              <a:lnSpc>
                <a:spcPts val="5507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For ε = 1, there is only one contour and the threshold parameter only controls the number of outliers.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93192" y="9442169"/>
            <a:ext cx="266274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sz="3000">
                <a:solidFill>
                  <a:srgbClr val="F4D314"/>
                </a:solidFill>
                <a:latin typeface="Josefin Sans Regular"/>
              </a:rPr>
              <a:t>For ε=0.75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570999" y="9442169"/>
            <a:ext cx="2662742" cy="447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0"/>
              </a:lnSpc>
              <a:spcBef>
                <a:spcPct val="0"/>
              </a:spcBef>
            </a:pPr>
            <a:r>
              <a:rPr lang="en-US" sz="3000">
                <a:solidFill>
                  <a:srgbClr val="F4D314"/>
                </a:solidFill>
                <a:latin typeface="Josefin Sans Regular"/>
              </a:rPr>
              <a:t>For ε=10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67785" y="6211570"/>
            <a:ext cx="3859680" cy="3700034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0337911" y="6211570"/>
            <a:ext cx="3929239" cy="3700034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028700" y="914400"/>
            <a:ext cx="16230600" cy="5398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269"/>
              </a:lnSpc>
            </a:pPr>
            <a:r>
              <a:rPr lang="en-US" sz="3399" dirty="0">
                <a:solidFill>
                  <a:srgbClr val="FFFFFF"/>
                </a:solidFill>
                <a:latin typeface="Prata"/>
              </a:rPr>
              <a:t> DISCUSSION OF TRIANGLE FILTER CRITERIA:</a:t>
            </a:r>
          </a:p>
          <a:p>
            <a:pPr marL="734059" lvl="1" indent="-367030">
              <a:lnSpc>
                <a:spcPts val="526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Three criteria used for triangle filtration.</a:t>
            </a:r>
          </a:p>
          <a:p>
            <a:pPr marL="734059" lvl="1" indent="-367030">
              <a:lnSpc>
                <a:spcPts val="526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 Bold"/>
              </a:rPr>
              <a:t>Edge Length-</a:t>
            </a: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 Used for filtration in Non-Convex Hulls algorithm.</a:t>
            </a:r>
          </a:p>
          <a:p>
            <a:pPr marL="734059" lvl="1" indent="-367030">
              <a:lnSpc>
                <a:spcPts val="526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 Bold"/>
              </a:rPr>
              <a:t>Inner Angles-</a:t>
            </a: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 Delaunay triangulation creates an angle optimal triangulation.</a:t>
            </a:r>
          </a:p>
          <a:p>
            <a:pPr marL="734059" lvl="1" indent="-367030">
              <a:lnSpc>
                <a:spcPts val="526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Out of all triangulations, one with largest smallest angle chosen.</a:t>
            </a:r>
          </a:p>
          <a:p>
            <a:pPr marL="734059" lvl="1" indent="-367030">
              <a:lnSpc>
                <a:spcPts val="526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This avoids long, spiky triangles.</a:t>
            </a:r>
          </a:p>
          <a:p>
            <a:pPr marL="734059" lvl="1" indent="-367030">
              <a:lnSpc>
                <a:spcPts val="5269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 Bold"/>
              </a:rPr>
              <a:t>Triangle Area- E</a:t>
            </a: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xcludes large triangles that cover space without additional points inside the triangle.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3693" y="7137979"/>
            <a:ext cx="3211353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4D314"/>
                </a:solidFill>
                <a:latin typeface="Canva Sans Bold"/>
              </a:rPr>
              <a:t>Edge-length based filtration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95751" y="7137979"/>
            <a:ext cx="2233852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F4D314"/>
                </a:solidFill>
                <a:latin typeface="Canva Sans Bold"/>
              </a:rPr>
              <a:t>Area based filtration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30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838200"/>
            <a:ext cx="16230600" cy="3846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51"/>
              </a:lnSpc>
            </a:pPr>
            <a:r>
              <a:rPr lang="en-US" sz="3399" dirty="0">
                <a:solidFill>
                  <a:srgbClr val="FFFFFF"/>
                </a:solidFill>
                <a:latin typeface="Prata"/>
              </a:rPr>
              <a:t> SCALABILITY AND STABILITY:</a:t>
            </a:r>
          </a:p>
          <a:p>
            <a:pPr marL="734059" lvl="1" indent="-367030">
              <a:lnSpc>
                <a:spcPts val="6051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 </a:t>
            </a:r>
            <a:r>
              <a:rPr lang="en-US" sz="3399" dirty="0" err="1">
                <a:solidFill>
                  <a:srgbClr val="FFFFFF"/>
                </a:solidFill>
                <a:latin typeface="Josefin Sans Regular"/>
              </a:rPr>
              <a:t>Algebaric</a:t>
            </a: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 topology algorithms are computationally expensive.</a:t>
            </a:r>
          </a:p>
          <a:p>
            <a:pPr marL="734059" lvl="1" indent="-367030">
              <a:lnSpc>
                <a:spcPts val="6051"/>
              </a:lnSpc>
              <a:buFont typeface="Arial"/>
              <a:buChar char="•"/>
            </a:pPr>
            <a:r>
              <a:rPr lang="en-US" sz="3399" dirty="0" err="1">
                <a:solidFill>
                  <a:srgbClr val="FFFFFF"/>
                </a:solidFill>
                <a:latin typeface="Josefin Sans Regular"/>
              </a:rPr>
              <a:t>Rangesets</a:t>
            </a: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 very quick for up to 1000 data points.</a:t>
            </a:r>
          </a:p>
          <a:p>
            <a:pPr marL="734059" lvl="1" indent="-367030">
              <a:lnSpc>
                <a:spcPts val="6051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Acceptable waiting times up to 5000 data points.(about 7 secs)</a:t>
            </a:r>
          </a:p>
          <a:p>
            <a:pPr marL="734059" lvl="1" indent="-367030">
              <a:lnSpc>
                <a:spcPts val="6051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For more datapoints we </a:t>
            </a:r>
            <a:r>
              <a:rPr lang="en-US" sz="3399" dirty="0" err="1">
                <a:solidFill>
                  <a:srgbClr val="FFFFFF"/>
                </a:solidFill>
                <a:latin typeface="Josefin Sans Regular"/>
              </a:rPr>
              <a:t>downsample</a:t>
            </a: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 the dataset or precompute </a:t>
            </a:r>
            <a:r>
              <a:rPr lang="en-US" sz="3399" dirty="0" err="1">
                <a:solidFill>
                  <a:srgbClr val="FFFFFF"/>
                </a:solidFill>
                <a:latin typeface="Josefin Sans Regular"/>
              </a:rPr>
              <a:t>rangesets</a:t>
            </a: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4953000"/>
            <a:ext cx="16230600" cy="4555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017"/>
              </a:lnSpc>
            </a:pPr>
            <a:r>
              <a:rPr lang="en-US" sz="3399" dirty="0">
                <a:solidFill>
                  <a:srgbClr val="FFFFFF"/>
                </a:solidFill>
                <a:latin typeface="Prata"/>
              </a:rPr>
              <a:t> VISUAL ENCODING:</a:t>
            </a:r>
          </a:p>
          <a:p>
            <a:pPr marL="734059" lvl="1" indent="-367030">
              <a:lnSpc>
                <a:spcPts val="6017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Augment scatter-plots with polygons and color-coded glyphs.</a:t>
            </a:r>
          </a:p>
          <a:p>
            <a:pPr marL="734059" lvl="1" indent="-367030">
              <a:lnSpc>
                <a:spcPts val="6017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Contour for each bin is a filled transparent polygon.</a:t>
            </a:r>
          </a:p>
          <a:p>
            <a:pPr marL="734059" lvl="1" indent="-367030">
              <a:lnSpc>
                <a:spcPts val="6017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Custom contours (gray outline) can be added to highlight a selected group of points</a:t>
            </a:r>
          </a:p>
          <a:p>
            <a:pPr marL="734059" lvl="1" indent="-367030">
              <a:lnSpc>
                <a:spcPts val="6017"/>
              </a:lnSpc>
              <a:buFont typeface="Arial"/>
              <a:buChar char="•"/>
            </a:pPr>
            <a:r>
              <a:rPr lang="en-US" sz="3399" dirty="0">
                <a:solidFill>
                  <a:srgbClr val="FFFFFF"/>
                </a:solidFill>
                <a:latin typeface="Josefin Sans Regular"/>
              </a:rPr>
              <a:t>Outliers are plotted on top of the contours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682</Words>
  <Application>Microsoft Office PowerPoint</Application>
  <PresentationFormat>Custom</PresentationFormat>
  <Paragraphs>88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Prata</vt:lpstr>
      <vt:lpstr>Canva Sans Bold</vt:lpstr>
      <vt:lpstr>Josefin Sans Regular Bold</vt:lpstr>
      <vt:lpstr>Josefin Sans Regular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dimensionality reduction</dc:title>
  <cp:lastModifiedBy>kriti gupta</cp:lastModifiedBy>
  <cp:revision>3</cp:revision>
  <dcterms:created xsi:type="dcterms:W3CDTF">2006-08-16T00:00:00Z</dcterms:created>
  <dcterms:modified xsi:type="dcterms:W3CDTF">2023-03-26T07:22:02Z</dcterms:modified>
  <dc:identifier>DAFeOfMq55U</dc:identifier>
</cp:coreProperties>
</file>